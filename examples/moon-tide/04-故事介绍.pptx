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故事从一盏逆潮归岸的灯开始。澪十七岁，是守灯人纱婆的学徒；莲十八岁，五天前救船落海，名字从他人的记忆与账本中消失。小说的关键选择是让镇民看清代价并自愿承担。结局保住莲的生路，同时让澪失去两人最早相识的亲身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/>
          <a:p>
            <a:r>
              <a:t>先交代世界规则。潮灯的职责是保存名字；第十三夜给失名者一次被看见的机会。莲的手腕仍有脉搏，因而保有归岸可能。普通逝者的影子最终回海，名字留在灯芯。用这一差别限制奇迹的范围，避免把解除旧契写成普遍复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/>
          <a:p>
            <a:r>
              <a:t>澪的手艺通过收灯、补纸和双结绳表现。莲在风里三次拖回受困船，第四次落海；回到镇里后先想见母亲，随后仍替澪修灯绳。纱婆当年急着救回逝者的名字，接受独守，并把代价传给后继。她最终要放弃的还包括独自掌管女儿灯芯的权利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/>
          <a:p>
            <a:r>
              <a:t>五天前的船难是前史，三日危机从收灯开始。第一章出现双结与缺角铜铃，证明澪与失名少年有真实旧关系。第二章的空碗让失名的后果落到家庭动作上。第三章澪拆开裂缝木座，发现家印压住的旧字，获得破局条件。这条路早已存在于旧契，不是高潮时临时出现的新法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/>
          <a:p>
            <a:r>
              <a:t>旧契用具体记忆记账，包括母亲的乳名、丈夫梳头和女儿出生时的哭声。纱婆的相册仍有照片，却不能重新给她那些相处时刻。澪接学徒印，便进入继承关系，但没有被充分告知。共同供灯要先毁掉家印，因此纱婆不能继续决定谁有资格点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/>
          <a:p>
            <a:r>
              <a:t>共同承担必须具体且自愿。老板娘询问忘记后还会保留什么，听丈夫重述求婚，再把话写在围裙上。鱼店老板最初想用昨日晚饭，灯芯没有反应，最终选择父亲准他第一次独自出海的早晨。澪逐盏请本人确认，并在灯架之间留下退出的通道。记录可以保住事实，无法把付出的体验补回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/>
          <a:p>
            <a:r>
              <a:t>高潮包含两个不能撤回的动作。纱婆敲碎家印，把封灯权交给共同见证的人。澪的灯烧到南堤二字，她首先失去铜铃缺口对应的体验。莲能接住竹竿、膝头能流血，鞋印在退潮后仍然保留，表明他真正归岸。逝者的影子散回海里，名字则进入各家的灯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/>
          <a:p>
            <a:r>
              <a:t>结尾先清点不可逆的损失。老板娘失去求婚当晚的欢喜，船匠失去第一次造船成功的兴奋，澪失去最初认识莲的经历。莲没有强迫她站回旧位置，只愿意重新讲。她可以重新笑、重新认识他。翌年，两人仍用双结挂灯，失去的初见始终没有恢复，新的关系和共同守灯继续发生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150876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dirty="0" b="1">
                <a:solidFill>
                  <a:srgbClr val="EDC8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潮灯町的第十三夜</a:t>
            </a:r>
            <a:endParaRPr b="1" sz="44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6320" y="3429000"/>
            <a:ext cx="999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dirty="0">
                <a:solidFill>
                  <a:srgbClr val="E8E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原创海边幻想短篇</a:t>
            </a:r>
            <a:endParaRPr sz="22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  <a:p>
            <a:r>
              <a:rPr lang="en-US" sz="2200" dirty="0">
                <a:solidFill>
                  <a:srgbClr val="E8E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三日危机 · 十二户共灯 · 一个新的初见</a:t>
            </a:r>
            <a:endParaRPr sz="22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1036320" y="754380"/>
            <a:ext cx="9144000" cy="54864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ORIGINAL FANTASY · 月潮与灯海</a:t>
            </a:r>
            <a:endParaRPr sz="12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975360" y="891540"/>
            <a:ext cx="10241280" cy="891540"/>
          </a:xfrm>
          <a:prstGeom prst="rect">
            <a:avLst/>
          </a:prstGeom>
          <a:noFill/>
        </p:spPr>
        <p:txBody>
          <a:bodyPr/>
          <a:lstStyle/>
          <a:p>
            <a:r>
              <a:rPr b="1" sz="3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十二夜之外</a:t>
            </a:r>
            <a:endParaRPr b="1" sz="3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1584960" y="23317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每年十二个潮灯夜，灯芯保存逝者名字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975360" y="24003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1584960" y="31889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第十三夜让被海抹去的人影归来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975360" y="32575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584960" y="40462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未归岸的活人会随退潮彻底失去生路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975360" y="41148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584960" y="49034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普通逝者只可留名，不能借灯复活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975360" y="49720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975360" y="6172200"/>
            <a:ext cx="7315200" cy="274320"/>
          </a:xfrm>
          <a:prstGeom prst="rect">
            <a:avLst/>
          </a:prstGeom>
          <a:noFill/>
        </p:spPr>
        <p:txBody>
          <a:bodyPr/>
          <a:lstStyle/>
          <a:p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潮灯町 · 故事与契约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0241280" y="6172200"/>
            <a:ext cx="975360" cy="27432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02 / 08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975360" y="891540"/>
            <a:ext cx="10241280" cy="891540"/>
          </a:xfrm>
          <a:prstGeom prst="rect">
            <a:avLst/>
          </a:prstGeom>
          <a:noFill/>
        </p:spPr>
        <p:txBody>
          <a:bodyPr/>
          <a:lstStyle/>
          <a:p>
            <a:r>
              <a:rPr b="1" sz="3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三个人，三件放不下的事</a:t>
            </a:r>
            <a:endParaRPr b="1" sz="3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1584960" y="23317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澪想把莲带回岸上，也要弄清自己继承了什么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975360" y="24003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1584960" y="31889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莲救船失名，仍记着替澪找回木屐的承诺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975360" y="32575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584960" y="40462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纱婆独自封灯三十年，舍不得交出女儿的灯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975360" y="41148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975360" y="6172200"/>
            <a:ext cx="7315200" cy="274320"/>
          </a:xfrm>
          <a:prstGeom prst="rect">
            <a:avLst/>
          </a:prstGeom>
          <a:noFill/>
        </p:spPr>
        <p:txBody>
          <a:bodyPr/>
          <a:lstStyle/>
          <a:p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潮灯町 · 故事与契约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0241280" y="6172200"/>
            <a:ext cx="975360" cy="27432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03 / 08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975360" y="891540"/>
            <a:ext cx="10241280" cy="891540"/>
          </a:xfrm>
          <a:prstGeom prst="rect">
            <a:avLst/>
          </a:prstGeom>
          <a:noFill/>
        </p:spPr>
        <p:txBody>
          <a:bodyPr/>
          <a:lstStyle/>
          <a:p>
            <a:r>
              <a:rPr b="1" sz="3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从雨中归灯到旧契</a:t>
            </a:r>
            <a:endParaRPr b="1" sz="3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1584960" y="23317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第一日 · 无字灯归岸，写下莲字的墨不断滴落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975360" y="24003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1584960" y="31889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第二日 · 母亲摆着空碗，却认不出该盛给谁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975360" y="32575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584960" y="40462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第三日 · 主灯封蜡下露出共同守灯的条款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975360" y="41148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975360" y="6172200"/>
            <a:ext cx="7315200" cy="274320"/>
          </a:xfrm>
          <a:prstGeom prst="rect">
            <a:avLst/>
          </a:prstGeom>
          <a:noFill/>
        </p:spPr>
        <p:txBody>
          <a:bodyPr/>
          <a:lstStyle/>
          <a:p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潮灯町 · 故事与契约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0241280" y="6172200"/>
            <a:ext cx="975360" cy="27432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04 / 08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975360" y="891540"/>
            <a:ext cx="10241280" cy="891540"/>
          </a:xfrm>
          <a:prstGeom prst="rect">
            <a:avLst/>
          </a:prstGeom>
          <a:noFill/>
        </p:spPr>
        <p:txBody>
          <a:bodyPr/>
          <a:lstStyle/>
          <a:p>
            <a:r>
              <a:rPr b="1" sz="3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旧契把谁写进了账</a:t>
            </a:r>
            <a:endParaRPr b="1" sz="3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1584960" y="23317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三十年前海灾，纱婆选择独守并签下家契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975360" y="24003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1584960" y="31889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留名需要活人舍不得忘的往事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975360" y="32575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584960" y="40462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代价和封灯权一直集中在守灯一家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975360" y="41148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584960" y="49034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封蜡下仍有“众见则众守”的条款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975360" y="49720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975360" y="6172200"/>
            <a:ext cx="7315200" cy="274320"/>
          </a:xfrm>
          <a:prstGeom prst="rect">
            <a:avLst/>
          </a:prstGeom>
          <a:noFill/>
        </p:spPr>
        <p:txBody>
          <a:bodyPr/>
          <a:lstStyle/>
          <a:p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潮灯町 · 故事与契约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0241280" y="6172200"/>
            <a:ext cx="975360" cy="27432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05 / 08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975360" y="891540"/>
            <a:ext cx="10241280" cy="891540"/>
          </a:xfrm>
          <a:prstGeom prst="rect">
            <a:avLst/>
          </a:prstGeom>
          <a:noFill/>
        </p:spPr>
        <p:txBody>
          <a:bodyPr/>
          <a:lstStyle/>
          <a:p>
            <a:r>
              <a:rPr b="1" sz="3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十二户共同供灯</a:t>
            </a:r>
            <a:endParaRPr b="1" sz="3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1584960" y="23317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澪跑访十一户，守灯屋组成第十二户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975360" y="24003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1584960" y="31889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每户自愿写下并确认愿意交出的记忆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975360" y="32575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584960" y="40462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拒绝者可以带灯离开，现场仍保留退路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975360" y="41148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584960" y="49034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澪代表本户献出南堤初见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975360" y="49720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975360" y="6172200"/>
            <a:ext cx="7315200" cy="274320"/>
          </a:xfrm>
          <a:prstGeom prst="rect">
            <a:avLst/>
          </a:prstGeom>
          <a:noFill/>
        </p:spPr>
        <p:txBody>
          <a:bodyPr/>
          <a:lstStyle/>
          <a:p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潮灯町 · 故事与契约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0241280" y="6172200"/>
            <a:ext cx="975360" cy="27432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06 / 08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975360" y="891540"/>
            <a:ext cx="10241280" cy="891540"/>
          </a:xfrm>
          <a:prstGeom prst="rect">
            <a:avLst/>
          </a:prstGeom>
          <a:noFill/>
        </p:spPr>
        <p:txBody>
          <a:bodyPr/>
          <a:lstStyle/>
          <a:p>
            <a:r>
              <a:rPr b="1" sz="3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第十三夜，毁印与归岸</a:t>
            </a:r>
            <a:endParaRPr b="1" sz="3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1584960" y="23317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纱婆在女儿的灯前迟疑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975360" y="24003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1584960" y="31889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老板娘答应共同照看那盏灯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975360" y="32575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584960" y="40462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家印碎裂，十二家灯芯彼此接亮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975360" y="41148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584960" y="49034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E8ECE7"/>
                </a:solidFill>
                <a:latin typeface="Microsoft YaHei"/>
                <a:ea typeface="Microsoft YaHei"/>
                <a:cs typeface="Microsoft YaHei"/>
              </a:rPr>
              <a:t>莲踏上石阶，澪已忘记铜铃为何缺角</a:t>
            </a:r>
            <a:endParaRPr sz="2000">
              <a:solidFill>
                <a:srgbClr val="E8ECE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975360" y="49720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EDC886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200">
              <a:solidFill>
                <a:srgbClr val="EDC8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975360" y="6172200"/>
            <a:ext cx="7315200" cy="274320"/>
          </a:xfrm>
          <a:prstGeom prst="rect">
            <a:avLst/>
          </a:prstGeom>
          <a:noFill/>
        </p:spPr>
        <p:txBody>
          <a:bodyPr/>
          <a:lstStyle/>
          <a:p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潮灯町 · 故事与契约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0241280" y="6172200"/>
            <a:ext cx="975360" cy="27432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sz="1000">
                <a:solidFill>
                  <a:srgbClr val="A4B9C4"/>
                </a:solidFill>
                <a:latin typeface="Microsoft YaHei"/>
                <a:ea typeface="Microsoft YaHei"/>
                <a:cs typeface="Microsoft YaHei"/>
              </a:rPr>
              <a:t>07 / 08</a:t>
            </a:r>
            <a:endParaRPr sz="1000">
              <a:solidFill>
                <a:srgbClr val="A4B9C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975360" y="891540"/>
            <a:ext cx="10241280" cy="891540"/>
          </a:xfrm>
          <a:prstGeom prst="rect">
            <a:avLst/>
          </a:prstGeom>
          <a:noFill/>
        </p:spPr>
        <p:txBody>
          <a:bodyPr/>
          <a:lstStyle/>
          <a:p>
            <a:r>
              <a:rPr b="1" sz="3200">
                <a:solidFill>
                  <a:srgbClr val="173B52"/>
                </a:solidFill>
                <a:latin typeface="Microsoft YaHei"/>
                <a:ea typeface="Microsoft YaHei"/>
                <a:cs typeface="Microsoft YaHei"/>
              </a:rPr>
              <a:t>新的初见</a:t>
            </a:r>
            <a:endParaRPr b="1" sz="3200">
              <a:solidFill>
                <a:srgbClr val="173B5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1584960" y="23317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334652"/>
                </a:solidFill>
                <a:latin typeface="Microsoft YaHei"/>
                <a:ea typeface="Microsoft YaHei"/>
                <a:cs typeface="Microsoft YaHei"/>
              </a:rPr>
              <a:t>澪知道十年前发生过什么，却找不回当时的亲身记忆</a:t>
            </a:r>
            <a:endParaRPr sz="2000">
              <a:solidFill>
                <a:srgbClr val="33465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975360" y="24003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173B52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200">
              <a:solidFill>
                <a:srgbClr val="173B5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1584960" y="31889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334652"/>
                </a:solidFill>
                <a:latin typeface="Microsoft YaHei"/>
                <a:ea typeface="Microsoft YaHei"/>
                <a:cs typeface="Microsoft YaHei"/>
              </a:rPr>
              <a:t>莲从找鞋讲起，允许她一次次重新询问</a:t>
            </a:r>
            <a:endParaRPr sz="2000">
              <a:solidFill>
                <a:srgbClr val="33465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975360" y="32575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173B52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>
              <a:solidFill>
                <a:srgbClr val="173B5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584960" y="404622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334652"/>
                </a:solidFill>
                <a:latin typeface="Microsoft YaHei"/>
                <a:ea typeface="Microsoft YaHei"/>
                <a:cs typeface="Microsoft YaHei"/>
              </a:rPr>
              <a:t>守灯屋有三把钥匙，照看日子共同排定</a:t>
            </a:r>
            <a:endParaRPr sz="2000">
              <a:solidFill>
                <a:srgbClr val="33465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975360" y="411480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173B52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>
              <a:solidFill>
                <a:srgbClr val="173B5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584960" y="4903470"/>
            <a:ext cx="9387840" cy="685800"/>
          </a:xfrm>
          <a:prstGeom prst="rect">
            <a:avLst/>
          </a:prstGeom>
          <a:noFill/>
        </p:spPr>
        <p:txBody>
          <a:bodyPr/>
          <a:lstStyle/>
          <a:p>
            <a:r>
              <a:rPr sz="2000">
                <a:solidFill>
                  <a:srgbClr val="334652"/>
                </a:solidFill>
                <a:latin typeface="Microsoft YaHei"/>
                <a:ea typeface="Microsoft YaHei"/>
                <a:cs typeface="Microsoft YaHei"/>
              </a:rPr>
              <a:t>翌年，十二家的灯挂到更远的海堤</a:t>
            </a:r>
            <a:endParaRPr sz="2000">
              <a:solidFill>
                <a:srgbClr val="33465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975360" y="4972050"/>
            <a:ext cx="487680" cy="411480"/>
          </a:xfrm>
          <a:prstGeom prst="rect">
            <a:avLst/>
          </a:prstGeom>
          <a:noFill/>
        </p:spPr>
        <p:txBody>
          <a:bodyPr/>
          <a:lstStyle/>
          <a:p>
            <a:r>
              <a:rPr sz="1200">
                <a:solidFill>
                  <a:srgbClr val="173B52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200">
              <a:solidFill>
                <a:srgbClr val="173B5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975360" y="6172200"/>
            <a:ext cx="7315200" cy="274320"/>
          </a:xfrm>
          <a:prstGeom prst="rect">
            <a:avLst/>
          </a:prstGeom>
          <a:noFill/>
        </p:spPr>
        <p:txBody>
          <a:bodyPr/>
          <a:lstStyle/>
          <a:p>
            <a:r>
              <a:rPr sz="1000">
                <a:solidFill>
                  <a:srgbClr val="746957"/>
                </a:solidFill>
                <a:latin typeface="Microsoft YaHei"/>
                <a:ea typeface="Microsoft YaHei"/>
                <a:cs typeface="Microsoft YaHei"/>
              </a:rPr>
              <a:t>潮灯町 · 故事与契约</a:t>
            </a:r>
            <a:endParaRPr sz="1000">
              <a:solidFill>
                <a:srgbClr val="7469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0241280" y="6172200"/>
            <a:ext cx="975360" cy="27432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sz="1000">
                <a:solidFill>
                  <a:srgbClr val="746957"/>
                </a:solidFill>
                <a:latin typeface="Microsoft YaHei"/>
                <a:ea typeface="Microsoft YaHei"/>
                <a:cs typeface="Microsoft YaHei"/>
              </a:rPr>
              <a:t>08 / 08</a:t>
            </a:r>
            <a:endParaRPr sz="1000">
              <a:solidFill>
                <a:srgbClr val="74695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2026-10-13T03:36:43Z</dcterms:created>
  <dcterms:modified xsi:type="dcterms:W3CDTF">2026-10-13T03:36:43Z</dcterms:modified>
</cp:coreProperties>
</file>